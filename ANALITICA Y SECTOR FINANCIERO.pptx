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90" r:id="rId4"/>
    <p:sldId id="291" r:id="rId5"/>
    <p:sldId id="292" r:id="rId6"/>
    <p:sldId id="295" r:id="rId7"/>
    <p:sldId id="294" r:id="rId8"/>
    <p:sldId id="288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AE659-6A8C-5DAD-5866-C709FD348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184700-F8B0-8419-A0A8-05A7F07FC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16BA5D-7F64-DF43-A1F3-34F767680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B73F7-7A19-C1C7-0058-6105B7A41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1DEF97-3C1F-B7F8-DD4E-5573B7AE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3327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F1258-51EC-99B2-B820-9C522794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1291C8-66CC-D84E-389D-FB1BC561F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FEBDCA-525A-6495-C75D-F5DE704B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16F5D4-E193-830E-19AD-691981546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2492CB-A0AC-C65C-4296-9AD2C505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7074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A8A440-6CC7-970D-C188-338681B2B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3BE5F8-F127-3FDF-DCAB-64B9A28A9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B7A4D4-210F-B948-493C-D025B82E9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C458E9-4FD9-780D-6F98-A190BCD9A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41A8C7-EFB5-0417-E4B6-0A44A42D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0351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6BC8E-552B-145C-9F50-B9A048AA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B04C82-66DE-E5C3-A4FD-3E5FDAD0D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A82014-847A-44AF-AB18-7B5D315B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CCB46A-B21B-0579-D945-DC00A0AC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0E15B-5202-B0FE-E167-A62A23861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2328FF-CEB5-F0A4-12BB-9FB25EC5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4286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BCE19-F94C-0950-C29A-1556974F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4A7B37-B3C4-8A63-AED5-C8C688817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5FAA9D-5211-4346-ACA0-F88BFE584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92AD904-79C3-1916-EBF0-DA383E7D9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99096A-BC9F-C1F0-64AC-F6AD23FA1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E33C5A-589A-C3C5-915C-3F173F055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BBC3BEF-FE48-F049-F060-B2455B152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80FBD7-B9E6-59F4-A6A7-F3D51A60F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0828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1FEB6-FF2F-548B-4A9B-89B127FC7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E7B5C8-1933-BF19-117F-ACF3AFAD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99D5D2-89EF-7D63-3409-B949263BB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EEA85F0-10E2-9A30-9469-4C913FD0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921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0427632-B0D1-0B56-FD7A-2CE7A3274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313AE44-4A11-DA65-4D85-6D1831AA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B04EE4-76C8-C883-0218-A266D812B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8794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CC9F15-F549-7253-B420-FF97D126C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D921E7-B3BF-DBE0-50C8-758ABEFFA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843726-3578-807F-07D7-8F4BD88F7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1E7716-1D44-33FB-3AFB-729567F80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F6E4C9-1191-9C75-5BE5-A7FDA8F5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077CD6-B69F-312A-D82C-600CE4E8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43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978DF-1789-E1EF-62A9-5A09A3916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8D45768-4CAF-3C94-8051-0F74B4BBD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4F2DE5-CAFC-81CB-DDEF-38C0DE7C8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D62FF5-9254-78E0-7ADD-0F2A071C8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B15EC2-D4E8-9715-428E-ED850D188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2B3730-FEEE-BE12-7209-9A9D3360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7074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286F7-C148-C6A5-3B18-57493DC8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B479231-BE7C-FFF7-3F76-9D6AD9D12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08BF41-04E1-CAD1-B44E-6DAE4562C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0B44A2-F0E4-05D4-30C1-2E7D81567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4DD8C7-31B6-65D7-5836-08DB86A0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395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2464CC-2206-2927-AF81-7FEEC24E6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879F54-A54F-3F61-31B2-89C4419FA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C50168-60C6-7E96-201C-C07702D8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79BEA6-A3E2-4BA0-EE10-E6B65D53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2981A3-9D50-E492-3BE8-05295981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09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414E55-523F-A464-7072-46CE9DE43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B131163-A893-511C-37CE-2A2AB8472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A374AD-31C3-4C9F-4425-1051CD64B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5BD91-82BC-4128-B7C8-E6E823EAF3D5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FC2EF8-F301-BA44-5070-3EB6F8626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A5CEE6-634C-B5EF-6FA4-7E4AC503B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CC5EA-0BED-4D1A-9128-3282AC7881C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375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bvaopenmind.com/economia/finanzas/analitica-de-datos-inteligencia-artificial-y-big-data-en-la-banca/" TargetMode="External"/><Relationship Id="rId2" Type="http://schemas.openxmlformats.org/officeDocument/2006/relationships/hyperlink" Target="https://actualicese.com/conferencia-problemas-que-el-sector-financiero-puede-resolver-con-la-analitica-de-datos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maestrodelacomputacion.net/aplicaciones-data-science-sector-financier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B2FF8-45B9-3B04-CCC2-E691D4538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204" y="2130638"/>
            <a:ext cx="10697592" cy="4350058"/>
          </a:xfrm>
        </p:spPr>
        <p:txBody>
          <a:bodyPr>
            <a:normAutofit/>
          </a:bodyPr>
          <a:lstStyle/>
          <a:p>
            <a:r>
              <a:rPr lang="es-CO" sz="5400" b="1" dirty="0">
                <a:latin typeface="Arial Black" panose="020B0A04020102020204" pitchFamily="34" charset="0"/>
              </a:rPr>
              <a:t>La Analítica de Datos en el Sector Financiero</a:t>
            </a:r>
            <a:br>
              <a:rPr lang="es-CO" sz="5400" b="1" dirty="0"/>
            </a:br>
            <a:br>
              <a:rPr lang="es-CO" sz="5400" b="1" dirty="0"/>
            </a:br>
            <a:r>
              <a:rPr lang="es-CO" sz="4400" b="1" dirty="0"/>
              <a:t>Carlos Manuel Rueda Ramírez</a:t>
            </a:r>
            <a:br>
              <a:rPr lang="es-CO" sz="4400" b="1" dirty="0"/>
            </a:br>
            <a:r>
              <a:rPr lang="es-CO" sz="4400" b="1" dirty="0"/>
              <a:t>27 de mayo de 2023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6983A95-119F-0E21-EC4B-1E7053FE4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3661" y="5475120"/>
            <a:ext cx="1801194" cy="12007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C46FAE3-9945-16D3-CE25-89E94A4875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5480" y="293058"/>
            <a:ext cx="4161713" cy="233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82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9130F0C-7E54-6910-E86E-F6A7E37062A4}"/>
              </a:ext>
            </a:extLst>
          </p:cNvPr>
          <p:cNvSpPr txBox="1">
            <a:spLocks/>
          </p:cNvSpPr>
          <p:nvPr/>
        </p:nvSpPr>
        <p:spPr>
          <a:xfrm>
            <a:off x="625135" y="311858"/>
            <a:ext cx="10515600" cy="93989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latin typeface="Arial Black" panose="020B0A04020102020204" pitchFamily="34" charset="0"/>
              </a:rPr>
              <a:t> No es sólo Analítica de Datos en el sector financiero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4932D2-97C5-80DD-327E-D0B47D517608}"/>
              </a:ext>
            </a:extLst>
          </p:cNvPr>
          <p:cNvSpPr txBox="1"/>
          <p:nvPr/>
        </p:nvSpPr>
        <p:spPr>
          <a:xfrm>
            <a:off x="607010" y="2000096"/>
            <a:ext cx="10977980" cy="383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600" b="0" i="0" dirty="0">
                <a:solidFill>
                  <a:srgbClr val="212529"/>
                </a:solidFill>
                <a:effectLst/>
              </a:rPr>
              <a:t>En la banca la transformación digital esta soportada en la aplicación de </a:t>
            </a:r>
            <a:r>
              <a:rPr lang="es-MX" sz="3600" dirty="0">
                <a:solidFill>
                  <a:srgbClr val="212529"/>
                </a:solidFill>
              </a:rPr>
              <a:t>los siguientes conocimientos y tecnologías:</a:t>
            </a:r>
          </a:p>
          <a:p>
            <a:pPr algn="l"/>
            <a:r>
              <a:rPr lang="es-MX" sz="3200" dirty="0">
                <a:solidFill>
                  <a:srgbClr val="212529"/>
                </a:solidFill>
              </a:rPr>
              <a:t> 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Analítica de datos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3200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Inteligencia Artificial 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3200" b="1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Big Data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2045267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9130F0C-7E54-6910-E86E-F6A7E37062A4}"/>
              </a:ext>
            </a:extLst>
          </p:cNvPr>
          <p:cNvSpPr txBox="1">
            <a:spLocks/>
          </p:cNvSpPr>
          <p:nvPr/>
        </p:nvSpPr>
        <p:spPr>
          <a:xfrm>
            <a:off x="625135" y="311858"/>
            <a:ext cx="10515600" cy="93989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latin typeface="Arial Black" panose="020B0A04020102020204" pitchFamily="34" charset="0"/>
              </a:rPr>
              <a:t> Oportunidades de la Analítica de Datos en el sector financiero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0F9C8A-3EAC-AE28-C2BC-6248ABC89CB3}"/>
              </a:ext>
            </a:extLst>
          </p:cNvPr>
          <p:cNvSpPr txBox="1"/>
          <p:nvPr/>
        </p:nvSpPr>
        <p:spPr>
          <a:xfrm>
            <a:off x="527484" y="1992358"/>
            <a:ext cx="1103124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2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Prevenir y detectar fraudes</a:t>
            </a:r>
          </a:p>
          <a:p>
            <a:pPr marL="514350" indent="-514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2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Prevenir que los clientes migren hacia otras entidades bancarias</a:t>
            </a:r>
          </a:p>
          <a:p>
            <a:pPr marL="514350" indent="-514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200" dirty="0">
                <a:solidFill>
                  <a:srgbClr val="212529"/>
                </a:solidFill>
                <a:latin typeface="Open Sans" panose="020B0606030504020204" pitchFamily="34" charset="0"/>
              </a:rPr>
              <a:t>Prevenir que los clientes </a:t>
            </a:r>
            <a:r>
              <a:rPr lang="es-MX" sz="32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cancelen sus productos</a:t>
            </a:r>
          </a:p>
          <a:p>
            <a:pPr marL="514350" indent="-514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2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Minimizar riesgos al momento de otorgar créditos</a:t>
            </a:r>
          </a:p>
          <a:p>
            <a:pPr marL="514350" indent="-514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32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Agilizar la realización de informes legales y regulatorios</a:t>
            </a:r>
            <a:endParaRPr lang="es-CO" sz="3200" dirty="0"/>
          </a:p>
        </p:txBody>
      </p:sp>
    </p:spTree>
    <p:extLst>
      <p:ext uri="{BB962C8B-B14F-4D97-AF65-F5344CB8AC3E}">
        <p14:creationId xmlns:p14="http://schemas.microsoft.com/office/powerpoint/2010/main" val="3409495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9130F0C-7E54-6910-E86E-F6A7E37062A4}"/>
              </a:ext>
            </a:extLst>
          </p:cNvPr>
          <p:cNvSpPr txBox="1">
            <a:spLocks/>
          </p:cNvSpPr>
          <p:nvPr/>
        </p:nvSpPr>
        <p:spPr>
          <a:xfrm>
            <a:off x="625135" y="311858"/>
            <a:ext cx="10515600" cy="93989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latin typeface="Arial Black" panose="020B0A04020102020204" pitchFamily="34" charset="0"/>
              </a:rPr>
              <a:t> Perspectivas de crecimiento de las soluciones de Analítica de Datos en el sector financiero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40F9C8A-3EAC-AE28-C2BC-6248ABC89CB3}"/>
              </a:ext>
            </a:extLst>
          </p:cNvPr>
          <p:cNvSpPr txBox="1"/>
          <p:nvPr/>
        </p:nvSpPr>
        <p:spPr>
          <a:xfrm>
            <a:off x="527484" y="1779294"/>
            <a:ext cx="11031246" cy="3785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MX" sz="32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Se espera que </a:t>
            </a:r>
            <a:r>
              <a:rPr lang="es-MX" sz="32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big</a:t>
            </a:r>
            <a:r>
              <a:rPr lang="es-MX" sz="32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data </a:t>
            </a:r>
            <a:r>
              <a:rPr lang="es-MX" sz="3200" b="0" i="0" dirty="0" err="1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analytics</a:t>
            </a:r>
            <a:r>
              <a:rPr lang="es-MX" sz="3200" b="0" i="0" dirty="0">
                <a:solidFill>
                  <a:srgbClr val="212529"/>
                </a:solidFill>
                <a:effectLst/>
                <a:latin typeface="Open Sans" panose="020B0606030504020204" pitchFamily="34" charset="0"/>
              </a:rPr>
              <a:t> en el mercado bancario registre una tasa de crecimiento anual compuesto de 23% durante el período 2021-2026 a nivel mundial.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s-MX" sz="3200" dirty="0">
                <a:solidFill>
                  <a:srgbClr val="FF0000"/>
                </a:solidFill>
                <a:latin typeface="Arial Black" panose="020B0A04020102020204" pitchFamily="34" charset="0"/>
              </a:rPr>
              <a:t>!!! Un gran mercado para los profesionales de  la ciencia de datos!!!</a:t>
            </a:r>
            <a:endParaRPr lang="es-CO" sz="32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804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9130F0C-7E54-6910-E86E-F6A7E37062A4}"/>
              </a:ext>
            </a:extLst>
          </p:cNvPr>
          <p:cNvSpPr txBox="1">
            <a:spLocks/>
          </p:cNvSpPr>
          <p:nvPr/>
        </p:nvSpPr>
        <p:spPr>
          <a:xfrm>
            <a:off x="625135" y="311858"/>
            <a:ext cx="10515600" cy="93989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latin typeface="Arial Black" panose="020B0A04020102020204" pitchFamily="34" charset="0"/>
              </a:rPr>
              <a:t> Una solución de </a:t>
            </a:r>
            <a:r>
              <a:rPr lang="es-CO" sz="3200" dirty="0" err="1">
                <a:latin typeface="Arial Black" panose="020B0A04020102020204" pitchFamily="34" charset="0"/>
              </a:rPr>
              <a:t>Maching</a:t>
            </a:r>
            <a:r>
              <a:rPr lang="es-CO" sz="3200" dirty="0">
                <a:latin typeface="Arial Black" panose="020B0A04020102020204" pitchFamily="34" charset="0"/>
              </a:rPr>
              <a:t> </a:t>
            </a:r>
            <a:r>
              <a:rPr lang="es-CO" sz="3200" dirty="0" err="1">
                <a:latin typeface="Arial Black" panose="020B0A04020102020204" pitchFamily="34" charset="0"/>
              </a:rPr>
              <a:t>Learning</a:t>
            </a:r>
            <a:r>
              <a:rPr lang="es-CO" sz="3200" dirty="0">
                <a:latin typeface="Arial Black" panose="020B0A04020102020204" pitchFamily="34" charset="0"/>
              </a:rPr>
              <a:t> para cajeros automáticos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DC356FB-E84C-AE73-1007-DE711E094057}"/>
              </a:ext>
            </a:extLst>
          </p:cNvPr>
          <p:cNvSpPr txBox="1"/>
          <p:nvPr/>
        </p:nvSpPr>
        <p:spPr>
          <a:xfrm>
            <a:off x="435007" y="1607726"/>
            <a:ext cx="112605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Problema.</a:t>
            </a:r>
          </a:p>
          <a:p>
            <a:r>
              <a:rPr lang="es-MX" sz="240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Aprovisionamiento eficiente de efectivo en los cajeros automáticos</a:t>
            </a:r>
            <a:endParaRPr lang="es-CO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7BC70D-8005-51FC-9CFE-1EDE56DD03B2}"/>
              </a:ext>
            </a:extLst>
          </p:cNvPr>
          <p:cNvSpPr txBox="1"/>
          <p:nvPr/>
        </p:nvSpPr>
        <p:spPr>
          <a:xfrm>
            <a:off x="435006" y="2802398"/>
            <a:ext cx="1112371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4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Beneficios de la solución.</a:t>
            </a:r>
          </a:p>
          <a:p>
            <a:r>
              <a:rPr lang="es-MX" sz="2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Ofrecer una experiencia agradable al usuario</a:t>
            </a:r>
          </a:p>
          <a:p>
            <a:pPr algn="l"/>
            <a:r>
              <a:rPr lang="es-MX" sz="2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Mantener una cantidad reducida para reducir riesgos de robos</a:t>
            </a:r>
          </a:p>
          <a:p>
            <a:pPr algn="l"/>
            <a:r>
              <a:rPr lang="es-MX" sz="2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Reducir los costos de adquisición del efectivo</a:t>
            </a:r>
          </a:p>
          <a:p>
            <a:pPr algn="l"/>
            <a:r>
              <a:rPr lang="es-MX" sz="2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Reducir los costos de transporte del efectivo</a:t>
            </a:r>
            <a:endParaRPr lang="es-CO" sz="2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62DA01-AE77-B5F9-5305-DD5A21F1F6E2}"/>
              </a:ext>
            </a:extLst>
          </p:cNvPr>
          <p:cNvSpPr txBox="1"/>
          <p:nvPr/>
        </p:nvSpPr>
        <p:spPr>
          <a:xfrm>
            <a:off x="435006" y="5025561"/>
            <a:ext cx="112605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400" b="1" i="0" dirty="0">
                <a:solidFill>
                  <a:srgbClr val="FF0000"/>
                </a:solidFill>
                <a:effectLst/>
                <a:latin typeface="Open Sans" panose="020B0606030504020204" pitchFamily="34" charset="0"/>
              </a:rPr>
              <a:t>Método.</a:t>
            </a:r>
          </a:p>
          <a:p>
            <a:pPr algn="l"/>
            <a:r>
              <a:rPr lang="es-MX" sz="2400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Prueba y entrenamiento de modelos predictivos con diferentes algoritmos y utilizar el de mayor precisión y mejores resultados.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4362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9130F0C-7E54-6910-E86E-F6A7E37062A4}"/>
              </a:ext>
            </a:extLst>
          </p:cNvPr>
          <p:cNvSpPr txBox="1">
            <a:spLocks/>
          </p:cNvSpPr>
          <p:nvPr/>
        </p:nvSpPr>
        <p:spPr>
          <a:xfrm>
            <a:off x="625135" y="311858"/>
            <a:ext cx="10515600" cy="93989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latin typeface="Arial Black" panose="020B0A04020102020204" pitchFamily="34" charset="0"/>
              </a:rPr>
              <a:t> La principal preocupación del sector financiero … </a:t>
            </a:r>
            <a:r>
              <a:rPr lang="es-CO" sz="3200" dirty="0">
                <a:solidFill>
                  <a:srgbClr val="FF0000"/>
                </a:solidFill>
                <a:latin typeface="Arial Black" panose="020B0A04020102020204" pitchFamily="34" charset="0"/>
              </a:rPr>
              <a:t>además de las utilidades!!!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418870-7DEB-04BC-246B-3B6D70EF9E9B}"/>
              </a:ext>
            </a:extLst>
          </p:cNvPr>
          <p:cNvSpPr txBox="1"/>
          <p:nvPr/>
        </p:nvSpPr>
        <p:spPr>
          <a:xfrm>
            <a:off x="574459" y="1955592"/>
            <a:ext cx="1104308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MX" sz="2800" b="1" i="0" dirty="0">
                <a:solidFill>
                  <a:srgbClr val="FF0000"/>
                </a:solidFill>
                <a:effectLst/>
                <a:latin typeface="Trebuchet MS" panose="020B0603020202020204" pitchFamily="34" charset="0"/>
              </a:rPr>
              <a:t>El fraude con tarjetas de crédito</a:t>
            </a:r>
          </a:p>
          <a:p>
            <a:pPr algn="l" fontAlgn="base"/>
            <a:endParaRPr lang="es-MX" sz="2400" b="0" i="0" dirty="0">
              <a:solidFill>
                <a:srgbClr val="333333"/>
              </a:solidFill>
              <a:effectLst/>
              <a:latin typeface="Trebuchet MS" panose="020B0603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C06823-E693-D7EF-5308-6A719F5FC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5558" y="2775519"/>
            <a:ext cx="4814401" cy="36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6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9130F0C-7E54-6910-E86E-F6A7E37062A4}"/>
              </a:ext>
            </a:extLst>
          </p:cNvPr>
          <p:cNvSpPr txBox="1">
            <a:spLocks/>
          </p:cNvSpPr>
          <p:nvPr/>
        </p:nvSpPr>
        <p:spPr>
          <a:xfrm>
            <a:off x="625135" y="311858"/>
            <a:ext cx="10515600" cy="93989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latin typeface="Arial Black" panose="020B0A04020102020204" pitchFamily="34" charset="0"/>
              </a:rPr>
              <a:t> La principal preocupación del sector financiero … </a:t>
            </a:r>
            <a:r>
              <a:rPr lang="es-CO" sz="3200" dirty="0">
                <a:solidFill>
                  <a:srgbClr val="FF0000"/>
                </a:solidFill>
                <a:latin typeface="Arial Black" panose="020B0A04020102020204" pitchFamily="34" charset="0"/>
              </a:rPr>
              <a:t>además de las utilidades!!!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418870-7DEB-04BC-246B-3B6D70EF9E9B}"/>
              </a:ext>
            </a:extLst>
          </p:cNvPr>
          <p:cNvSpPr txBox="1"/>
          <p:nvPr/>
        </p:nvSpPr>
        <p:spPr>
          <a:xfrm>
            <a:off x="523783" y="1635996"/>
            <a:ext cx="11043082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MX" sz="2800" b="1" i="0" dirty="0">
                <a:solidFill>
                  <a:srgbClr val="FF0000"/>
                </a:solidFill>
                <a:effectLst/>
                <a:latin typeface="Trebuchet MS" panose="020B0603020202020204" pitchFamily="34" charset="0"/>
              </a:rPr>
              <a:t>El fraude con tarjetas de crédito</a:t>
            </a:r>
          </a:p>
          <a:p>
            <a:pPr algn="l" fontAlgn="base"/>
            <a:endParaRPr lang="es-MX" sz="2400" b="0" i="0" dirty="0">
              <a:solidFill>
                <a:srgbClr val="333333"/>
              </a:solidFill>
              <a:effectLst/>
              <a:latin typeface="Trebuchet MS" panose="020B0603020202020204" pitchFamily="34" charset="0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s-MX" sz="2400" dirty="0">
                <a:solidFill>
                  <a:srgbClr val="333333"/>
                </a:solidFill>
                <a:latin typeface="Trebuchet MS" panose="020B0603020202020204" pitchFamily="34" charset="0"/>
              </a:rPr>
              <a:t>D</a:t>
            </a:r>
            <a:r>
              <a:rPr lang="es-MX" sz="2400" b="0" i="0" dirty="0">
                <a:solidFill>
                  <a:srgbClr val="333333"/>
                </a:solidFill>
                <a:effectLst/>
                <a:latin typeface="Trebuchet MS" panose="020B0603020202020204" pitchFamily="34" charset="0"/>
              </a:rPr>
              <a:t>etección de este tipo de fraudes mediante algoritmos y herramientas de aprendizaje automático.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es-MX" sz="2400" b="0" i="0" dirty="0">
              <a:solidFill>
                <a:srgbClr val="333333"/>
              </a:solidFill>
              <a:effectLst/>
              <a:latin typeface="Trebuchet MS" panose="020B0603020202020204" pitchFamily="34" charset="0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s-MX" sz="2400" b="0" i="0" dirty="0">
                <a:solidFill>
                  <a:srgbClr val="333333"/>
                </a:solidFill>
                <a:effectLst/>
                <a:latin typeface="Trebuchet MS" panose="020B0603020202020204" pitchFamily="34" charset="0"/>
              </a:rPr>
              <a:t>El fraude se detecta mediante patrones de datos sospechosos.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es-MX" sz="2400" b="0" i="0" dirty="0">
              <a:solidFill>
                <a:srgbClr val="333333"/>
              </a:solidFill>
              <a:effectLst/>
              <a:latin typeface="Trebuchet MS" panose="020B0603020202020204" pitchFamily="34" charset="0"/>
            </a:endParaRP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r>
              <a:rPr lang="es-MX" sz="2400" b="0" i="0" dirty="0">
                <a:solidFill>
                  <a:srgbClr val="333333"/>
                </a:solidFill>
                <a:effectLst/>
                <a:latin typeface="Trebuchet MS" panose="020B0603020202020204" pitchFamily="34" charset="0"/>
              </a:rPr>
              <a:t>Se utilizan algoritmos de agrupación (</a:t>
            </a:r>
            <a:r>
              <a:rPr lang="es-MX" sz="2400" b="0" i="0" dirty="0" err="1">
                <a:solidFill>
                  <a:srgbClr val="333333"/>
                </a:solidFill>
                <a:effectLst/>
                <a:latin typeface="Trebuchet MS" panose="020B0603020202020204" pitchFamily="34" charset="0"/>
              </a:rPr>
              <a:t>cluster</a:t>
            </a:r>
            <a:r>
              <a:rPr lang="es-MX" sz="2400" b="0" i="0" dirty="0">
                <a:solidFill>
                  <a:srgbClr val="333333"/>
                </a:solidFill>
                <a:effectLst/>
                <a:latin typeface="Trebuchet MS" panose="020B0603020202020204" pitchFamily="34" charset="0"/>
              </a:rPr>
              <a:t>) para segregar los datos y entender el patrón de agrupación de la información.</a:t>
            </a:r>
          </a:p>
          <a:p>
            <a:pPr marL="342900" indent="-342900" algn="l" fontAlgn="base">
              <a:buFont typeface="Arial" panose="020B0604020202020204" pitchFamily="34" charset="0"/>
              <a:buChar char="•"/>
            </a:pPr>
            <a:endParaRPr lang="es-MX" sz="2400" dirty="0">
              <a:solidFill>
                <a:srgbClr val="333333"/>
              </a:solidFill>
              <a:latin typeface="Trebuchet MS" panose="020B0603020202020204" pitchFamily="34" charset="0"/>
            </a:endParaRP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s-MX" sz="2400" b="0" i="0" dirty="0">
                <a:solidFill>
                  <a:srgbClr val="FF0000"/>
                </a:solidFill>
                <a:effectLst/>
                <a:latin typeface="Trebuchet MS" panose="020B0603020202020204" pitchFamily="34" charset="0"/>
              </a:rPr>
              <a:t>Beneficios:</a:t>
            </a:r>
            <a:r>
              <a:rPr lang="es-MX" sz="2400" b="0" i="0" dirty="0">
                <a:solidFill>
                  <a:srgbClr val="333333"/>
                </a:solidFill>
                <a:effectLst/>
                <a:latin typeface="Trebuchet MS" panose="020B0603020202020204" pitchFamily="34" charset="0"/>
              </a:rPr>
              <a:t> Las pérdidas derivadas de las estafas se minimizan rápidamente gracias a la alerta de detección recibida en tiempo.</a:t>
            </a:r>
          </a:p>
        </p:txBody>
      </p:sp>
    </p:spTree>
    <p:extLst>
      <p:ext uri="{BB962C8B-B14F-4D97-AF65-F5344CB8AC3E}">
        <p14:creationId xmlns:p14="http://schemas.microsoft.com/office/powerpoint/2010/main" val="2882286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EE2084-0AFA-97BD-234B-307682F79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35" y="311858"/>
            <a:ext cx="10515600" cy="700197"/>
          </a:xfrm>
        </p:spPr>
        <p:txBody>
          <a:bodyPr>
            <a:normAutofit/>
          </a:bodyPr>
          <a:lstStyle/>
          <a:p>
            <a:pPr algn="ctr"/>
            <a:r>
              <a:rPr lang="es-MX" dirty="0">
                <a:latin typeface="Arial Black" panose="020B0A04020102020204" pitchFamily="34" charset="0"/>
              </a:rPr>
              <a:t>Referencias</a:t>
            </a:r>
            <a:endParaRPr lang="es-CO" dirty="0">
              <a:latin typeface="Arial Black" panose="020B0A040201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312F9E-3572-46DC-C418-739A594B7B59}"/>
              </a:ext>
            </a:extLst>
          </p:cNvPr>
          <p:cNvSpPr txBox="1"/>
          <p:nvPr/>
        </p:nvSpPr>
        <p:spPr>
          <a:xfrm>
            <a:off x="736846" y="1491451"/>
            <a:ext cx="1092841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dirty="0"/>
              <a:t>Actualícese. (21 de diciembre de 2022). </a:t>
            </a:r>
            <a:r>
              <a:rPr lang="es-MX" sz="2000" i="1" dirty="0"/>
              <a:t>Problemas que el sector financiero puede resolver con la analítica de datos. </a:t>
            </a:r>
            <a:r>
              <a:rPr lang="es-MX" sz="2000" i="1" dirty="0">
                <a:hlinkClick r:id="rId2"/>
              </a:rPr>
              <a:t>https://</a:t>
            </a:r>
            <a:r>
              <a:rPr lang="es-CO" sz="2000" dirty="0">
                <a:hlinkClick r:id="rId2"/>
              </a:rPr>
              <a:t>actualicese.com/conferencia-problemas-que-el-sector-financiero-puede-resolver-con-la-analitica-de-datos/</a:t>
            </a:r>
            <a:r>
              <a:rPr lang="es-CO" sz="2000" dirty="0"/>
              <a:t>.</a:t>
            </a:r>
          </a:p>
          <a:p>
            <a:endParaRPr lang="es-CO" sz="2000" dirty="0"/>
          </a:p>
          <a:p>
            <a:r>
              <a:rPr lang="es-MX" sz="2000" b="0" i="0" dirty="0">
                <a:solidFill>
                  <a:srgbClr val="212529"/>
                </a:solidFill>
                <a:effectLst/>
                <a:latin typeface="BentonSansBBVA-Medium"/>
              </a:rPr>
              <a:t>Open </a:t>
            </a:r>
            <a:r>
              <a:rPr lang="es-MX" sz="2000" b="0" i="0" dirty="0" err="1">
                <a:solidFill>
                  <a:srgbClr val="212529"/>
                </a:solidFill>
                <a:effectLst/>
                <a:latin typeface="BentonSansBBVA-Medium"/>
              </a:rPr>
              <a:t>Mind</a:t>
            </a:r>
            <a:r>
              <a:rPr lang="es-MX" sz="2000" b="0" i="0" dirty="0">
                <a:solidFill>
                  <a:srgbClr val="212529"/>
                </a:solidFill>
                <a:effectLst/>
                <a:latin typeface="BentonSansBBVA-Medium"/>
              </a:rPr>
              <a:t> BBVA. (16 de abril 2018). </a:t>
            </a:r>
            <a:r>
              <a:rPr lang="es-MX" sz="2000" b="0" i="1" dirty="0">
                <a:solidFill>
                  <a:srgbClr val="212529"/>
                </a:solidFill>
                <a:effectLst/>
                <a:latin typeface="BentonSansBBVA-Medium"/>
              </a:rPr>
              <a:t>Analítica de datos, Inteligencia Artificial y Big Data en la banca.</a:t>
            </a:r>
          </a:p>
          <a:p>
            <a:r>
              <a:rPr lang="es-CO" sz="2000" dirty="0">
                <a:hlinkClick r:id="rId3"/>
              </a:rPr>
              <a:t>https://www.bbvaopenmind.com/economia/finanzas/analitica-de-datos-inteligencia-artificial-y-big-data-en-la-banca/</a:t>
            </a:r>
            <a:endParaRPr lang="es-CO" sz="2000" dirty="0"/>
          </a:p>
          <a:p>
            <a:endParaRPr lang="es-CO" sz="2000" dirty="0"/>
          </a:p>
          <a:p>
            <a:r>
              <a:rPr lang="es-MX" sz="2000" i="0" dirty="0">
                <a:solidFill>
                  <a:srgbClr val="333333"/>
                </a:solidFill>
                <a:effectLst/>
                <a:latin typeface="inherit"/>
              </a:rPr>
              <a:t>Maestro de la Computación. (10 de febrero de 2022). Aplicaciones de la Data </a:t>
            </a:r>
            <a:r>
              <a:rPr lang="es-MX" sz="2000" i="0" dirty="0" err="1">
                <a:solidFill>
                  <a:srgbClr val="333333"/>
                </a:solidFill>
                <a:effectLst/>
                <a:latin typeface="inherit"/>
              </a:rPr>
              <a:t>Science</a:t>
            </a:r>
            <a:r>
              <a:rPr lang="es-MX" sz="2000" i="0" dirty="0">
                <a:solidFill>
                  <a:srgbClr val="333333"/>
                </a:solidFill>
                <a:effectLst/>
                <a:latin typeface="inherit"/>
              </a:rPr>
              <a:t> en el sector financiero. </a:t>
            </a:r>
            <a:r>
              <a:rPr lang="es-MX" sz="2000" i="0" dirty="0">
                <a:solidFill>
                  <a:srgbClr val="333333"/>
                </a:solidFill>
                <a:effectLst/>
                <a:latin typeface="inherit"/>
                <a:hlinkClick r:id="rId4"/>
              </a:rPr>
              <a:t>https://www.maestrodelacomputacion.net/aplicaciones-data-science-sector-financiero/</a:t>
            </a:r>
            <a:r>
              <a:rPr lang="es-MX" sz="2000" i="0" dirty="0">
                <a:solidFill>
                  <a:srgbClr val="333333"/>
                </a:solidFill>
                <a:effectLst/>
                <a:latin typeface="inherit"/>
              </a:rPr>
              <a:t>.</a:t>
            </a:r>
          </a:p>
          <a:p>
            <a:endParaRPr lang="es-MX" sz="2000" dirty="0">
              <a:solidFill>
                <a:srgbClr val="333333"/>
              </a:solidFill>
              <a:latin typeface="inherit"/>
            </a:endParaRPr>
          </a:p>
          <a:p>
            <a:endParaRPr lang="es-MX" sz="2000" i="0" dirty="0">
              <a:solidFill>
                <a:srgbClr val="333333"/>
              </a:solidFill>
              <a:effectLst/>
              <a:latin typeface="Trebuchet MS" panose="020B0603020202020204" pitchFamily="34" charset="0"/>
            </a:endParaRPr>
          </a:p>
          <a:p>
            <a:endParaRPr lang="es-CO" sz="2000" dirty="0"/>
          </a:p>
          <a:p>
            <a:endParaRPr lang="es-CO" sz="2000" dirty="0"/>
          </a:p>
          <a:p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40188368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</TotalTime>
  <Words>438</Words>
  <Application>Microsoft Office PowerPoint</Application>
  <PresentationFormat>Panorámica</PresentationFormat>
  <Paragraphs>48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7" baseType="lpstr">
      <vt:lpstr>Arial</vt:lpstr>
      <vt:lpstr>Arial Black</vt:lpstr>
      <vt:lpstr>BentonSansBBVA-Medium</vt:lpstr>
      <vt:lpstr>Calibri</vt:lpstr>
      <vt:lpstr>Calibri Light</vt:lpstr>
      <vt:lpstr>inherit</vt:lpstr>
      <vt:lpstr>Open Sans</vt:lpstr>
      <vt:lpstr>Trebuchet MS</vt:lpstr>
      <vt:lpstr>Tema de Office</vt:lpstr>
      <vt:lpstr>La Analítica de Datos en el Sector Financiero  Carlos Manuel Rueda Ramírez 27 de mayo de 2023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Referencias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</dc:title>
  <dc:creator>CARLOS RUEDA</dc:creator>
  <cp:lastModifiedBy>CARLOS RUEDA</cp:lastModifiedBy>
  <cp:revision>99</cp:revision>
  <dcterms:created xsi:type="dcterms:W3CDTF">2023-03-15T03:44:05Z</dcterms:created>
  <dcterms:modified xsi:type="dcterms:W3CDTF">2023-05-22T23:03:24Z</dcterms:modified>
</cp:coreProperties>
</file>